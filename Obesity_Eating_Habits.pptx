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68" r:id="rId4"/>
    <p:sldId id="269" r:id="rId5"/>
    <p:sldId id="270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3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7A8F80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7A8F80"/>
                </a:solidFill>
                <a:latin typeface="Arial"/>
              </a:rPr>
              <a:t>F1-Score by Class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1B5E3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Insuff. Wt</c:v>
                </c:pt>
                <c:pt idx="1">
                  <c:v>Normal Wt</c:v>
                </c:pt>
                <c:pt idx="2">
                  <c:v>OW I</c:v>
                </c:pt>
                <c:pt idx="3">
                  <c:v>OW II</c:v>
                </c:pt>
                <c:pt idx="4">
                  <c:v>Ob I</c:v>
                </c:pt>
                <c:pt idx="5">
                  <c:v>Ob II</c:v>
                </c:pt>
                <c:pt idx="6">
                  <c:v>Ob III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92</c:v>
                </c:pt>
                <c:pt idx="1">
                  <c:v>69</c:v>
                </c:pt>
                <c:pt idx="2">
                  <c:v>74</c:v>
                </c:pt>
                <c:pt idx="3">
                  <c:v>79</c:v>
                </c:pt>
                <c:pt idx="4">
                  <c:v>83</c:v>
                </c:pt>
                <c:pt idx="5">
                  <c:v>91</c:v>
                </c:pt>
                <c:pt idx="6">
                  <c:v>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B1-0941-95B0-9A1C9A4041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AdaBoost</c:v>
                </c:pt>
              </c:strCache>
            </c:strRef>
          </c:tx>
          <c:spPr>
            <a:solidFill>
              <a:srgbClr val="D95D39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Insuff. Wt</c:v>
                </c:pt>
                <c:pt idx="1">
                  <c:v>Normal Wt</c:v>
                </c:pt>
                <c:pt idx="2">
                  <c:v>OW I</c:v>
                </c:pt>
                <c:pt idx="3">
                  <c:v>OW II</c:v>
                </c:pt>
                <c:pt idx="4">
                  <c:v>Ob I</c:v>
                </c:pt>
                <c:pt idx="5">
                  <c:v>Ob II</c:v>
                </c:pt>
                <c:pt idx="6">
                  <c:v>Ob III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58</c:v>
                </c:pt>
                <c:pt idx="1">
                  <c:v>34</c:v>
                </c:pt>
                <c:pt idx="2">
                  <c:v>37</c:v>
                </c:pt>
                <c:pt idx="3">
                  <c:v>22</c:v>
                </c:pt>
                <c:pt idx="4">
                  <c:v>40</c:v>
                </c:pt>
                <c:pt idx="5">
                  <c:v>38</c:v>
                </c:pt>
                <c:pt idx="6">
                  <c:v>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7B1-0941-95B0-9A1C9A40411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3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2D8B5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3A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CAEC</c:v>
                </c:pt>
                <c:pt idx="1">
                  <c:v>Gender_Male</c:v>
                </c:pt>
                <c:pt idx="2">
                  <c:v>CALC</c:v>
                </c:pt>
                <c:pt idx="3">
                  <c:v>SMOKE_yes</c:v>
                </c:pt>
                <c:pt idx="4">
                  <c:v>CH2O</c:v>
                </c:pt>
                <c:pt idx="5">
                  <c:v>TUE</c:v>
                </c:pt>
                <c:pt idx="6">
                  <c:v>NCP</c:v>
                </c:pt>
                <c:pt idx="7">
                  <c:v>FAF</c:v>
                </c:pt>
                <c:pt idx="8">
                  <c:v>FCVC</c:v>
                </c:pt>
                <c:pt idx="9">
                  <c:v>Age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10</c:v>
                </c:pt>
                <c:pt idx="9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50-954C-9333-0DEA7C7A968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A3A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A8F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8F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0137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B5E3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2D8B57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Obesity &amp;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Eating Habits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Classification of Obesity Levels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Dietary &amp; Lifestyle Features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Kaylee Kim &amp; Hannah Merrill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github.com/kyu976/Obesity-and-Eating-Habits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Research Question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60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eating habits and lifestyle behaviors alone predict obesity severity — without relying on Weight or Height?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468880" cy="1645920"/>
          </a:xfrm>
          <a:prstGeom prst="rect">
            <a:avLst/>
          </a:prstGeom>
          <a:solidFill>
            <a:srgbClr val="1B5E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2,111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520440" y="1828800"/>
            <a:ext cx="2468880" cy="1645920"/>
          </a:xfrm>
          <a:prstGeom prst="rect">
            <a:avLst/>
          </a:prstGeom>
          <a:solidFill>
            <a:srgbClr val="2D8B5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044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520440" y="2743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468880" cy="1645920"/>
          </a:xfrm>
          <a:prstGeom prst="rect">
            <a:avLst/>
          </a:prstGeom>
          <a:solidFill>
            <a:srgbClr val="D95D3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794760"/>
            <a:ext cx="73152" cy="91440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7947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and Height were deliberately excluded from the input features to avoid BMI leakage — forcing the model to learn from behavioral and demographic signals only. This makes predictions more actionable for real-world health interventions.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ObesityDataSet.csv  —  UCI ML Repository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73152" cy="1280160"/>
          </a:xfrm>
          <a:prstGeom prst="rect">
            <a:avLst/>
          </a:prstGeom>
          <a:solidFill>
            <a:srgbClr val="1B5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04672" y="1554480"/>
            <a:ext cx="3566160" cy="1280160"/>
          </a:xfrm>
          <a:prstGeom prst="rect">
            <a:avLst/>
          </a:prstGeom>
          <a:solidFill>
            <a:srgbClr val="E9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584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057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Age, Height, Weight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554480"/>
            <a:ext cx="73152" cy="1280160"/>
          </a:xfrm>
          <a:prstGeom prst="rect">
            <a:avLst/>
          </a:prstGeom>
          <a:solidFill>
            <a:srgbClr val="2D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19472" y="1554480"/>
            <a:ext cx="3566160" cy="1280160"/>
          </a:xfrm>
          <a:prstGeom prst="rect">
            <a:avLst/>
          </a:prstGeom>
          <a:solidFill>
            <a:srgbClr val="E9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Eating Habits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20640" y="20574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FAVC (high-cal food), FCVC (veggies),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NCP (meals/day), CAEC (snacking)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73152" cy="1280160"/>
          </a:xfrm>
          <a:prstGeom prst="rect">
            <a:avLst/>
          </a:prstGeom>
          <a:solidFill>
            <a:srgbClr val="D95D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04672" y="3108960"/>
            <a:ext cx="3566160" cy="1280160"/>
          </a:xfrm>
          <a:prstGeom prst="rect">
            <a:avLst/>
          </a:prstGeom>
          <a:solidFill>
            <a:srgbClr val="E9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58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Physical &amp; Health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3611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FAF (physical activity), SCC (calorie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monitoring), SMOKE, CALC (alcohol)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3108960"/>
            <a:ext cx="73152" cy="12801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19472" y="3108960"/>
            <a:ext cx="3566160" cy="1280160"/>
          </a:xfrm>
          <a:prstGeom prst="rect">
            <a:avLst/>
          </a:prstGeom>
          <a:solidFill>
            <a:srgbClr val="E9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361188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CH2O (water), TUE (tech use),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MTRANS (transportation), Family history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Obesity Classes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variable spans a severity spectrum from underweight to severe obesity.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051560" cy="2377440"/>
          </a:xfrm>
          <a:prstGeom prst="rect">
            <a:avLst/>
          </a:prstGeom>
          <a:solidFill>
            <a:srgbClr val="4FC3F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Weight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0" y="1645920"/>
            <a:ext cx="1051560" cy="2377440"/>
          </a:xfrm>
          <a:prstGeom prst="rect">
            <a:avLst/>
          </a:prstGeom>
          <a:solidFill>
            <a:srgbClr val="81C78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64592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45920" y="237744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Weight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34640" y="1645920"/>
            <a:ext cx="1051560" cy="2377440"/>
          </a:xfrm>
          <a:prstGeom prst="rect">
            <a:avLst/>
          </a:prstGeom>
          <a:solidFill>
            <a:srgbClr val="FFD54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 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834640" y="237744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 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023360" y="1645920"/>
            <a:ext cx="1051560" cy="2377440"/>
          </a:xfrm>
          <a:prstGeom prst="rect">
            <a:avLst/>
          </a:prstGeom>
          <a:solidFill>
            <a:srgbClr val="FFB74D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 II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023360" y="237744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Overweight II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212080" y="1645920"/>
            <a:ext cx="1051560" cy="2377440"/>
          </a:xfrm>
          <a:prstGeom prst="rect">
            <a:avLst/>
          </a:prstGeom>
          <a:solidFill>
            <a:srgbClr val="FF8A65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1208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 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212080" y="237744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Type 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1645920"/>
            <a:ext cx="1051560" cy="2377440"/>
          </a:xfrm>
          <a:prstGeom prst="rect">
            <a:avLst/>
          </a:prstGeom>
          <a:solidFill>
            <a:srgbClr val="E5737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0080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 II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237744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Type II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89520" y="1645920"/>
            <a:ext cx="1051560" cy="2377440"/>
          </a:xfrm>
          <a:prstGeom prst="rect">
            <a:avLst/>
          </a:prstGeom>
          <a:solidFill>
            <a:srgbClr val="D32F2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89520" y="18288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 III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589520" y="2377440"/>
            <a:ext cx="1051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Type III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206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Increasing Severity  →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051560" y="1188720"/>
            <a:ext cx="548640" cy="548640"/>
          </a:xfrm>
          <a:prstGeom prst="ellipse">
            <a:avLst/>
          </a:prstGeom>
          <a:solidFill>
            <a:srgbClr val="1B5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051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691640" y="1463040"/>
            <a:ext cx="1508760" cy="0"/>
          </a:xfrm>
          <a:prstGeom prst="line">
            <a:avLst/>
          </a:prstGeom>
          <a:noFill/>
          <a:ln w="19050">
            <a:solidFill>
              <a:srgbClr val="7A8F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Wrangling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 for CAEC/CALC,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for categorical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80/20 stratified split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188720"/>
            <a:ext cx="548640" cy="548640"/>
          </a:xfrm>
          <a:prstGeom prst="ellipse">
            <a:avLst/>
          </a:prstGeom>
          <a:solidFill>
            <a:srgbClr val="2D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1463040"/>
            <a:ext cx="1508760" cy="0"/>
          </a:xfrm>
          <a:prstGeom prst="line">
            <a:avLst/>
          </a:prstGeom>
          <a:noFill/>
          <a:ln w="19050">
            <a:solidFill>
              <a:srgbClr val="7A8F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D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2331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8 continuous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(Age, Height, Weight,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FCVC, NCP, CH2O, FAF, TUE)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49240" y="1188720"/>
            <a:ext cx="548640" cy="548640"/>
          </a:xfrm>
          <a:prstGeom prst="ellipse">
            <a:avLst/>
          </a:prstGeom>
          <a:solidFill>
            <a:srgbClr val="D95D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492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989320" y="1463040"/>
            <a:ext cx="1508760" cy="0"/>
          </a:xfrm>
          <a:prstGeom prst="line">
            <a:avLst/>
          </a:prstGeom>
          <a:noFill/>
          <a:ln w="19050">
            <a:solidFill>
              <a:srgbClr val="7A8F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Modeling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54880" y="2331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Classifier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estimators, no max depth,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 = 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1188720"/>
            <a:ext cx="548640" cy="54864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49808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903720" y="1920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903720" y="23317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matrix, classification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feature importance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457200" cy="457200"/>
          </a:xfrm>
          <a:prstGeom prst="ellipse">
            <a:avLst/>
          </a:prstGeom>
          <a:solidFill>
            <a:srgbClr val="1B5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60120" y="1554480"/>
            <a:ext cx="0" cy="292608"/>
          </a:xfrm>
          <a:prstGeom prst="line">
            <a:avLst/>
          </a:prstGeom>
          <a:noFill/>
          <a:ln w="19050">
            <a:solidFill>
              <a:srgbClr val="7A8F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383280" y="10515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Weight, Height, and target (NObeyesdad). 14 remaining features capture eating habits, physical activity, and demographics.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847088"/>
            <a:ext cx="457200" cy="457200"/>
          </a:xfrm>
          <a:prstGeom prst="ellipse">
            <a:avLst/>
          </a:prstGeom>
          <a:solidFill>
            <a:srgbClr val="2D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60120" y="2304288"/>
            <a:ext cx="0" cy="292608"/>
          </a:xfrm>
          <a:prstGeom prst="line">
            <a:avLst/>
          </a:prstGeom>
          <a:noFill/>
          <a:ln w="19050">
            <a:solidFill>
              <a:srgbClr val="7A8F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371600" y="18013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Ordinal Encoding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801368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CAEC (snacking) and CALC (alcohol) mapped to 0-3 scale preserving frequency order: no → Sometimes → Frequently → Always.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596896"/>
            <a:ext cx="457200" cy="457200"/>
          </a:xfrm>
          <a:prstGeom prst="ellipse">
            <a:avLst/>
          </a:prstGeom>
          <a:solidFill>
            <a:srgbClr val="D95D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31520" y="2596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054096"/>
            <a:ext cx="0" cy="292608"/>
          </a:xfrm>
          <a:prstGeom prst="line">
            <a:avLst/>
          </a:prstGeom>
          <a:noFill/>
          <a:ln w="19050">
            <a:solidFill>
              <a:srgbClr val="7A8F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371600" y="2551176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One-Hot Encoding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551176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features (Gender, family history, FAVC, SMOKE, SCC, MTRANS) converted to binary indicator columns.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346704"/>
            <a:ext cx="457200" cy="457200"/>
          </a:xfrm>
          <a:prstGeom prst="ellipse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3346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60120" y="3803904"/>
            <a:ext cx="0" cy="292608"/>
          </a:xfrm>
          <a:prstGeom prst="line">
            <a:avLst/>
          </a:prstGeom>
          <a:noFill/>
          <a:ln w="19050">
            <a:solidFill>
              <a:srgbClr val="7A8F8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371600" y="330098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Train/Test Split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300984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(random_state=42) ensures each obesity class is proportionally represented in both sets.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4096512"/>
            <a:ext cx="457200" cy="457200"/>
          </a:xfrm>
          <a:prstGeom prst="ellipse">
            <a:avLst/>
          </a:prstGeom>
          <a:solidFill>
            <a:srgbClr val="1B5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71600" y="4050792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Scaling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83280" y="405079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continuous features (Age, FCVC, NCP, CH2O, FAF) — fit on train, transform on test to prevent data leakage.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Classifier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decision trees that votes on the final class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43000" y="2560320"/>
            <a:ext cx="182880" cy="548640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005840" cy="1188720"/>
          </a:xfrm>
          <a:prstGeom prst="ellipse">
            <a:avLst/>
          </a:prstGeom>
          <a:solidFill>
            <a:srgbClr val="1B5E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234440" y="3108960"/>
            <a:ext cx="0" cy="457200"/>
          </a:xfrm>
          <a:prstGeom prst="line">
            <a:avLst/>
          </a:prstGeom>
          <a:noFill/>
          <a:ln w="19050">
            <a:solidFill>
              <a:srgbClr val="7A8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71800" y="2560320"/>
            <a:ext cx="182880" cy="548640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560320" y="1463040"/>
            <a:ext cx="1005840" cy="1188720"/>
          </a:xfrm>
          <a:prstGeom prst="ellipse">
            <a:avLst/>
          </a:prstGeom>
          <a:solidFill>
            <a:srgbClr val="2D8B5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63240" y="3108960"/>
            <a:ext cx="0" cy="457200"/>
          </a:xfrm>
          <a:prstGeom prst="line">
            <a:avLst/>
          </a:prstGeom>
          <a:noFill/>
          <a:ln w="19050">
            <a:solidFill>
              <a:srgbClr val="7A8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2560320"/>
            <a:ext cx="182880" cy="548640"/>
          </a:xfrm>
          <a:prstGeom prst="rect">
            <a:avLst/>
          </a:prstGeom>
          <a:solidFill>
            <a:srgbClr val="8B69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89120" y="1463040"/>
            <a:ext cx="1005840" cy="1188720"/>
          </a:xfrm>
          <a:prstGeom prst="ellipse">
            <a:avLst/>
          </a:prstGeom>
          <a:solidFill>
            <a:srgbClr val="3E8B6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Tree 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3108960"/>
            <a:ext cx="0" cy="457200"/>
          </a:xfrm>
          <a:prstGeom prst="line">
            <a:avLst/>
          </a:prstGeom>
          <a:noFill/>
          <a:ln w="19050">
            <a:solidFill>
              <a:srgbClr val="7A8F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18288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7A8F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...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40080" y="3566160"/>
            <a:ext cx="4754880" cy="731520"/>
          </a:xfrm>
          <a:prstGeom prst="rect">
            <a:avLst/>
          </a:prstGeom>
          <a:solidFill>
            <a:srgbClr val="E8A83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5661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Majority Vote → Predicted Obesity Class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760720" y="1371600"/>
            <a:ext cx="301752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760720" y="1371600"/>
            <a:ext cx="73152" cy="3017520"/>
          </a:xfrm>
          <a:prstGeom prst="rect">
            <a:avLst/>
          </a:prstGeom>
          <a:solidFill>
            <a:srgbClr val="1B5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035040" y="1463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Random Forest?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187452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mixed feature types (ordinal, binary, continuous)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overfitting via bagging across 200 trees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feature importance via Gini impurity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non-linear interactions between lifestyle variables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assumption of feature independence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Hyperparameter Tuning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with 5-fold cross-validation to find optimal Random Forest parameters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502920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Space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50, 100, 200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None, 10, 20, 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2, 5, 10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D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3063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Progression</a:t>
            </a:r>
            <a:endParaRPr lang="en-US" sz="1600" dirty="0"/>
          </a:p>
        </p:txBody>
      </p:sp>
      <p:sp>
        <p:nvSpPr>
          <p:cNvPr id="4" name="Shape 3"/>
          <p:cNvSpPr/>
          <p:nvPr/>
        </p:nvSpPr>
        <p:spPr>
          <a:xfrm>
            <a:off x="731520" y="3520440"/>
            <a:ext cx="2468880" cy="1188720"/>
          </a:xfrm>
          <a:prstGeom prst="rect">
            <a:avLst/>
          </a:prstGeom>
          <a:solidFill>
            <a:srgbClr val="7A8F8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83.4%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731520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CV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4370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5-fold, default params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0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20440" y="3520440"/>
            <a:ext cx="2468880" cy="1188720"/>
          </a:xfrm>
          <a:prstGeom prst="rect">
            <a:avLst/>
          </a:prstGeom>
          <a:solidFill>
            <a:srgbClr val="2D8B57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52044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84.7%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520440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GridSearchCV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520440" y="4370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cross-validated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989320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6309360" y="3520440"/>
            <a:ext cx="2468880" cy="1188720"/>
          </a:xfrm>
          <a:prstGeom prst="rect">
            <a:avLst/>
          </a:prstGeom>
          <a:solidFill>
            <a:srgbClr val="1B5E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309360" y="3566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309360" y="416052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Set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09360" y="43708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holdout eval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17920" y="1371600"/>
            <a:ext cx="2560320" cy="1645920"/>
          </a:xfrm>
          <a:prstGeom prst="rect">
            <a:avLst/>
          </a:prstGeom>
          <a:solidFill>
            <a:srgbClr val="E9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217920" y="1371600"/>
            <a:ext cx="73152" cy="164592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446520" y="14630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Combinations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446520" y="17830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4 × 3 parameter grid evaluated across 5 folds = 180 total model fits. max_depth=20 prevents overfitting while allowing sufficient tree complexity.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— Per-Class Results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accuracy: 84%  |  Weighted F1: 0.84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6858000" cy="25603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Insufficient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Weight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5D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Overweight Level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95D3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Overweight Level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Obesity Type 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D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Obesity Type 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Obesity Type III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B5E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3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0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" y="3977640"/>
            <a:ext cx="3657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731520" y="3977640"/>
            <a:ext cx="73152" cy="868680"/>
          </a:xfrm>
          <a:prstGeom prst="rect">
            <a:avLst/>
          </a:prstGeom>
          <a:solidFill>
            <a:srgbClr val="1B5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4"/>
          <p:cNvSpPr/>
          <p:nvPr/>
        </p:nvSpPr>
        <p:spPr>
          <a:xfrm>
            <a:off x="1005840" y="402336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Type III achieves perfect precision (1.00) — the model never falsely labels someone as severely obese.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754880" y="3977640"/>
            <a:ext cx="40233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754880" y="3977640"/>
            <a:ext cx="73152" cy="868680"/>
          </a:xfrm>
          <a:prstGeom prst="rect">
            <a:avLst/>
          </a:prstGeom>
          <a:solidFill>
            <a:srgbClr val="D95D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029200" y="40233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Weight has the lowest F1 (0.69) — the hardest class to separate, likely confused with neighboring Overweight I.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Comparison: RF vs AdaBoost</a:t>
            </a:r>
            <a:endParaRPr lang="en-US" sz="30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457200" y="100584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217920" y="1097280"/>
            <a:ext cx="2560320" cy="1371600"/>
          </a:xfrm>
          <a:prstGeom prst="rect">
            <a:avLst/>
          </a:prstGeom>
          <a:solidFill>
            <a:srgbClr val="1B5E3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217920" y="1188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21792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621792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0.84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2651760"/>
            <a:ext cx="2560320" cy="1371600"/>
          </a:xfrm>
          <a:prstGeom prst="rect">
            <a:avLst/>
          </a:prstGeom>
          <a:solidFill>
            <a:srgbClr val="D95D39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21792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AdaBoost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17920" y="30175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217920" y="3611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4E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F1: 0.45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31520" y="4389120"/>
            <a:ext cx="7772400" cy="502920"/>
          </a:xfrm>
          <a:prstGeom prst="rect">
            <a:avLst/>
          </a:prstGeom>
          <a:solidFill>
            <a:srgbClr val="E9F0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440740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AdaBoost struggles with 7-class separation — its sequential boosting approach can’t match the ensemble diversity of Random Forest for this multi-class problem. RF was selected as the final model.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predictors — Gini impurity-based importance from tuned Random Forest</a:t>
            </a:r>
            <a:endParaRPr lang="en-US" sz="1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234440"/>
          <a:ext cx="50292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80160"/>
            <a:ext cx="3017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760720" y="1280160"/>
            <a:ext cx="73152" cy="1280160"/>
          </a:xfrm>
          <a:prstGeom prst="rect">
            <a:avLst/>
          </a:prstGeom>
          <a:solidFill>
            <a:srgbClr val="1B5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35040" y="1371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Demographics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35040" y="16916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dominates as the single strongest predictor — older individuals trend toward higher obesity classifications even after removing Weight/Height.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2743200"/>
            <a:ext cx="30175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5760720" y="2743200"/>
            <a:ext cx="73152" cy="12801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035040" y="2834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Lifestyle Matters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035040" y="3154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FCVC, FAF, NCP, TUE, and CH2O collectively account for ~36% of total importance — modifiable daily habits provide actionable insight for intervention.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47091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Weight and Height were excluded from features to test if behavioral signals alone can predict obesity class.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Analysis: Confusion Matrix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463040" y="960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Insuff.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40280" y="960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017520" y="960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 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794760" y="960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 II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0" y="960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I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349240" y="960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II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126480" y="9601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III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77240" y="128016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77240" y="171907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77240" y="2157984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 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596896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 II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" y="3035808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I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" y="3474720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II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77240" y="391363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III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463040" y="1280160"/>
            <a:ext cx="777240" cy="438912"/>
          </a:xfrm>
          <a:prstGeom prst="rect">
            <a:avLst/>
          </a:prstGeom>
          <a:solidFill>
            <a:srgbClr val="1B5E3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63040" y="12801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40280" y="1280160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240280" y="12801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17520" y="128016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017520" y="12801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794760" y="128016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94760" y="12801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280160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12801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349240" y="128016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349240" y="12801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128016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128016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463040" y="1719072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46304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40280" y="1719072"/>
            <a:ext cx="777240" cy="438912"/>
          </a:xfrm>
          <a:prstGeom prst="rect">
            <a:avLst/>
          </a:prstGeom>
          <a:solidFill>
            <a:srgbClr val="1B5E3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4028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017520" y="1719072"/>
            <a:ext cx="777240" cy="438912"/>
          </a:xfrm>
          <a:prstGeom prst="rect">
            <a:avLst/>
          </a:prstGeom>
          <a:solidFill>
            <a:srgbClr val="FFB74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01752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794760" y="1719072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79476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1719072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57200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49240" y="171907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4924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26480" y="171907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126480" y="171907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1463040" y="2157984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1463040" y="21579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240280" y="2157984"/>
            <a:ext cx="777240" cy="438912"/>
          </a:xfrm>
          <a:prstGeom prst="rect">
            <a:avLst/>
          </a:prstGeom>
          <a:solidFill>
            <a:srgbClr val="FFB74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240280" y="21579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017520" y="2157984"/>
            <a:ext cx="777240" cy="438912"/>
          </a:xfrm>
          <a:prstGeom prst="rect">
            <a:avLst/>
          </a:prstGeom>
          <a:solidFill>
            <a:srgbClr val="1B5E3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017520" y="21579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794760" y="2157984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3794760" y="21579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2157984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72000" y="21579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349240" y="2157984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5349240" y="21579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126480" y="2157984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126480" y="2157984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463040" y="2596896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1463040" y="25968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240280" y="2596896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240280" y="25968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017520" y="2596896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3017520" y="25968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794760" y="2596896"/>
            <a:ext cx="777240" cy="438912"/>
          </a:xfrm>
          <a:prstGeom prst="rect">
            <a:avLst/>
          </a:prstGeom>
          <a:solidFill>
            <a:srgbClr val="1B5E3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794760" y="25968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572000" y="2596896"/>
            <a:ext cx="777240" cy="438912"/>
          </a:xfrm>
          <a:prstGeom prst="rect">
            <a:avLst/>
          </a:prstGeom>
          <a:solidFill>
            <a:srgbClr val="FFB74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4572000" y="25968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5349240" y="2596896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5349240" y="25968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126480" y="2596896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126480" y="2596896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1463040" y="3035808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1463040" y="30358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240280" y="3035808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2240280" y="30358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3017520" y="3035808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017520" y="30358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794760" y="3035808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3794760" y="30358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4572000" y="3035808"/>
            <a:ext cx="777240" cy="438912"/>
          </a:xfrm>
          <a:prstGeom prst="rect">
            <a:avLst/>
          </a:prstGeom>
          <a:solidFill>
            <a:srgbClr val="1B5E3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80"/>
          <p:cNvSpPr/>
          <p:nvPr/>
        </p:nvSpPr>
        <p:spPr>
          <a:xfrm>
            <a:off x="4572000" y="30358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5349240" y="3035808"/>
            <a:ext cx="777240" cy="438912"/>
          </a:xfrm>
          <a:prstGeom prst="rect">
            <a:avLst/>
          </a:prstGeom>
          <a:solidFill>
            <a:srgbClr val="FFB74D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5349240" y="30358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6126480" y="3035808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6126480" y="3035808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1463040" y="3474720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463040" y="347472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2240280" y="347472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2240280" y="347472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3017520" y="347472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017520" y="347472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3" name="Shape 91"/>
          <p:cNvSpPr/>
          <p:nvPr/>
        </p:nvSpPr>
        <p:spPr>
          <a:xfrm>
            <a:off x="3794760" y="3474720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3794760" y="347472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4572000" y="3474720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Text 94"/>
          <p:cNvSpPr/>
          <p:nvPr/>
        </p:nvSpPr>
        <p:spPr>
          <a:xfrm>
            <a:off x="4572000" y="347472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5349240" y="3474720"/>
            <a:ext cx="777240" cy="438912"/>
          </a:xfrm>
          <a:prstGeom prst="rect">
            <a:avLst/>
          </a:prstGeom>
          <a:solidFill>
            <a:srgbClr val="1B5E3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5349240" y="347472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6126480" y="3474720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126480" y="3474720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1463040" y="391363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Text 100"/>
          <p:cNvSpPr/>
          <p:nvPr/>
        </p:nvSpPr>
        <p:spPr>
          <a:xfrm>
            <a:off x="1463040" y="3913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2240280" y="391363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Text 102"/>
          <p:cNvSpPr/>
          <p:nvPr/>
        </p:nvSpPr>
        <p:spPr>
          <a:xfrm>
            <a:off x="2240280" y="3913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5" name="Shape 103"/>
          <p:cNvSpPr/>
          <p:nvPr/>
        </p:nvSpPr>
        <p:spPr>
          <a:xfrm>
            <a:off x="3017520" y="391363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3017520" y="3913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7" name="Shape 105"/>
          <p:cNvSpPr/>
          <p:nvPr/>
        </p:nvSpPr>
        <p:spPr>
          <a:xfrm>
            <a:off x="3794760" y="391363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3794760" y="3913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09" name="Shape 107"/>
          <p:cNvSpPr/>
          <p:nvPr/>
        </p:nvSpPr>
        <p:spPr>
          <a:xfrm>
            <a:off x="4572000" y="3913632"/>
            <a:ext cx="77724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 108"/>
          <p:cNvSpPr/>
          <p:nvPr/>
        </p:nvSpPr>
        <p:spPr>
          <a:xfrm>
            <a:off x="4572000" y="3913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111" name="Shape 109"/>
          <p:cNvSpPr/>
          <p:nvPr/>
        </p:nvSpPr>
        <p:spPr>
          <a:xfrm>
            <a:off x="5349240" y="3913632"/>
            <a:ext cx="777240" cy="438912"/>
          </a:xfrm>
          <a:prstGeom prst="rect">
            <a:avLst/>
          </a:prstGeom>
          <a:solidFill>
            <a:srgbClr val="E9F0E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 110"/>
          <p:cNvSpPr/>
          <p:nvPr/>
        </p:nvSpPr>
        <p:spPr>
          <a:xfrm>
            <a:off x="5349240" y="3913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13" name="Shape 111"/>
          <p:cNvSpPr/>
          <p:nvPr/>
        </p:nvSpPr>
        <p:spPr>
          <a:xfrm>
            <a:off x="6126480" y="3913632"/>
            <a:ext cx="777240" cy="438912"/>
          </a:xfrm>
          <a:prstGeom prst="rect">
            <a:avLst/>
          </a:prstGeom>
          <a:solidFill>
            <a:srgbClr val="1B5E3B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126480" y="3913632"/>
            <a:ext cx="777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000" dirty="0"/>
          </a:p>
        </p:txBody>
      </p:sp>
      <p:sp>
        <p:nvSpPr>
          <p:cNvPr id="115" name="Text 113"/>
          <p:cNvSpPr/>
          <p:nvPr/>
        </p:nvSpPr>
        <p:spPr>
          <a:xfrm>
            <a:off x="1463040" y="731520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→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411480" y="1554480"/>
            <a:ext cx="32004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7040880" y="1280160"/>
            <a:ext cx="73152" cy="914400"/>
          </a:xfrm>
          <a:prstGeom prst="rect">
            <a:avLst/>
          </a:prstGeom>
          <a:solidFill>
            <a:srgbClr val="1B5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8" name="Text 116"/>
          <p:cNvSpPr/>
          <p:nvPr/>
        </p:nvSpPr>
        <p:spPr>
          <a:xfrm>
            <a:off x="7269480" y="1280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correct predictions. Most errors are in neighboring cells (off by one class).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7040880" y="2377440"/>
            <a:ext cx="73152" cy="914400"/>
          </a:xfrm>
          <a:prstGeom prst="rect">
            <a:avLst/>
          </a:prstGeom>
          <a:solidFill>
            <a:srgbClr val="FFB7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7269480" y="23774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↔ Overweight I is the most confused boundary (10 and 9 errors).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7040880" y="3474720"/>
            <a:ext cx="73152" cy="914400"/>
          </a:xfrm>
          <a:prstGeom prst="rect">
            <a:avLst/>
          </a:prstGeom>
          <a:solidFill>
            <a:srgbClr val="2D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2" name="Text 120"/>
          <p:cNvSpPr/>
          <p:nvPr/>
        </p:nvSpPr>
        <p:spPr>
          <a:xfrm>
            <a:off x="7269480" y="347472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classes (Ob II, Ob III) are almost never confused with low-severity ones — the model respects ordinal structure.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7724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3152" cy="822960"/>
          </a:xfrm>
          <a:prstGeom prst="rect">
            <a:avLst/>
          </a:prstGeom>
          <a:solidFill>
            <a:srgbClr val="1B5E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058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Behavior Predicts Obesity — Even Without Weight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5331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Weight and Height removed, lifestyle features alone achieve 84% accuracy across 7 classes. This validates that eating habits and physical activity carry strong predictive signal.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7724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1520" y="2011680"/>
            <a:ext cx="73152" cy="822960"/>
          </a:xfrm>
          <a:prstGeom prst="rect">
            <a:avLst/>
          </a:prstGeom>
          <a:solidFill>
            <a:srgbClr val="2D8B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05840" y="2057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 Outperforms AdaBoost by 37 Points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235915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RF’s bagging ensemble (84%) dramatically outperforms AdaBoost’s sequential boosting (47%). The diversity of 200 independent trees is critical for multi-class separation.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017520"/>
            <a:ext cx="77724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73152" cy="822960"/>
          </a:xfrm>
          <a:prstGeom prst="rect">
            <a:avLst/>
          </a:prstGeom>
          <a:solidFill>
            <a:srgbClr val="D95D3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5840" y="3063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5D3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 + 5 Lifestyle Features Drive the Model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36499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the top predictor, but FCVC (vegetables), FAF (exercise), NCP (meals), TUE (tech use), and CH2O (water) collectively rival it — actionable targets for health interventions.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7724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" y="4023360"/>
            <a:ext cx="73152" cy="822960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05840" y="4069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Errors Are Clinically Reasonable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370832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Misclassifications cluster near the diagonal — the model rarely confuses distant severity levels. A Normal Weight prediction instead of Overweight I is a minor, not dangerous, error.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5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Streamlit Dashboard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— Interactive exploration and live predictions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Dashboard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385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bar chart with sample/feature/class summary metrics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55448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029200" y="16276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Explorer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193852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plots and box plots comparing any two features, filterable by obesity class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1440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990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horizontal bar chart showing top-N most predictive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267919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29900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visualization of model prediction accuracy per class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657600"/>
            <a:ext cx="37490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373075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8B5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Predictor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404164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3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your own data — age, diet, activity — and get a real-time obesity class prediction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E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8A8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B5E3B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D8B57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Obesity &amp; Eating Habits — ML Classification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Kaylee Kim &amp; Hannah Merrill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github.com/kyu976/Obesity-and-Eating-Habits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A8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UCI ML Repository  •  MIT License  •  Python  •  Scikit-learn  •  Streamlit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1283</Words>
  <Application>Microsoft Macintosh PowerPoint</Application>
  <PresentationFormat>On-screen Show (16:9)</PresentationFormat>
  <Paragraphs>301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Obesity &amp; Eating Habits — ML Classification</dc:title>
  <dc:subject>PptxGenJS Presentation</dc:subject>
  <dc:creator>Hannah Merrill &amp; Kaylee Kim</dc:creator>
  <cp:lastModifiedBy>Kim, Kaylee K</cp:lastModifiedBy>
  <cp:revision>3</cp:revision>
  <dcterms:created xsi:type="dcterms:W3CDTF">2026-04-08T01:23:59Z</dcterms:created>
  <dcterms:modified xsi:type="dcterms:W3CDTF">2026-04-08T18:25:04Z</dcterms:modified>
</cp:coreProperties>
</file>